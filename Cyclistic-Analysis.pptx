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1" r:id="rId1"/>
  </p:sldMasterIdLst>
  <p:notesMasterIdLst>
    <p:notesMasterId r:id="rId13"/>
  </p:notesMasterIdLst>
  <p:sldIdLst>
    <p:sldId id="256" r:id="rId2"/>
    <p:sldId id="268" r:id="rId3"/>
    <p:sldId id="257" r:id="rId4"/>
    <p:sldId id="263" r:id="rId5"/>
    <p:sldId id="264" r:id="rId6"/>
    <p:sldId id="265" r:id="rId7"/>
    <p:sldId id="267" r:id="rId8"/>
    <p:sldId id="266" r:id="rId9"/>
    <p:sldId id="260" r:id="rId10"/>
    <p:sldId id="261" r:id="rId11"/>
    <p:sldId id="269"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82" d="100"/>
          <a:sy n="82" d="100"/>
        </p:scale>
        <p:origin x="820" y="5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Average Ride Length: Subscribers vs. Customers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2019</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2"/>
                <c:pt idx="0">
                  <c:v>Customers</c:v>
                </c:pt>
                <c:pt idx="1">
                  <c:v>Subscribers</c:v>
                </c:pt>
              </c:strCache>
            </c:strRef>
          </c:cat>
          <c:val>
            <c:numRef>
              <c:f>Sheet1!$B$2:$B$5</c:f>
              <c:numCache>
                <c:formatCode>General</c:formatCode>
                <c:ptCount val="4"/>
                <c:pt idx="0">
                  <c:v>61.93</c:v>
                </c:pt>
                <c:pt idx="1">
                  <c:v>13.89</c:v>
                </c:pt>
              </c:numCache>
            </c:numRef>
          </c:val>
          <c:extLst>
            <c:ext xmlns:c16="http://schemas.microsoft.com/office/drawing/2014/chart" uri="{C3380CC4-5D6E-409C-BE32-E72D297353CC}">
              <c16:uniqueId val="{00000000-C9E2-4485-9D5B-AD8EA7BEF692}"/>
            </c:ext>
          </c:extLst>
        </c:ser>
        <c:ser>
          <c:idx val="1"/>
          <c:order val="1"/>
          <c:tx>
            <c:strRef>
              <c:f>Sheet1!$C$1</c:f>
              <c:strCache>
                <c:ptCount val="1"/>
                <c:pt idx="0">
                  <c:v>2020</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2"/>
                <c:pt idx="0">
                  <c:v>Customers</c:v>
                </c:pt>
                <c:pt idx="1">
                  <c:v>Subscribers</c:v>
                </c:pt>
              </c:strCache>
            </c:strRef>
          </c:cat>
          <c:val>
            <c:numRef>
              <c:f>Sheet1!$C$2:$C$5</c:f>
              <c:numCache>
                <c:formatCode>General</c:formatCode>
                <c:ptCount val="4"/>
                <c:pt idx="0">
                  <c:v>95.79</c:v>
                </c:pt>
                <c:pt idx="1">
                  <c:v>12.68</c:v>
                </c:pt>
              </c:numCache>
            </c:numRef>
          </c:val>
          <c:extLst>
            <c:ext xmlns:c16="http://schemas.microsoft.com/office/drawing/2014/chart" uri="{C3380CC4-5D6E-409C-BE32-E72D297353CC}">
              <c16:uniqueId val="{00000001-C9E2-4485-9D5B-AD8EA7BEF692}"/>
            </c:ext>
          </c:extLst>
        </c:ser>
        <c:dLbls>
          <c:dLblPos val="inEnd"/>
          <c:showLegendKey val="0"/>
          <c:showVal val="1"/>
          <c:showCatName val="0"/>
          <c:showSerName val="0"/>
          <c:showPercent val="0"/>
          <c:showBubbleSize val="0"/>
        </c:dLbls>
        <c:gapWidth val="65"/>
        <c:axId val="372984048"/>
        <c:axId val="372986208"/>
      </c:barChart>
      <c:catAx>
        <c:axId val="37298404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372986208"/>
        <c:crosses val="autoZero"/>
        <c:auto val="1"/>
        <c:lblAlgn val="ctr"/>
        <c:lblOffset val="100"/>
        <c:noMultiLvlLbl val="0"/>
      </c:catAx>
      <c:valAx>
        <c:axId val="372986208"/>
        <c:scaling>
          <c:orientation val="minMax"/>
        </c:scaling>
        <c:delete val="1"/>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Average Ride Length (minutes)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crossAx val="372984048"/>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719F3-7ED5-47B6-B3B2-F7A8782B8BD1}" type="datetimeFigureOut">
              <a:rPr lang="en-US" smtClean="0"/>
              <a:t>3/7/2026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C37B4-3C80-4A9A-BE88-BA132B6FB665}" type="slidenum">
              <a:rPr lang="en-US" smtClean="0"/>
              <a:t>‹#›</a:t>
            </a:fld>
            <a:endParaRPr lang="en-US"/>
          </a:p>
        </p:txBody>
      </p:sp>
    </p:spTree>
    <p:extLst>
      <p:ext uri="{BB962C8B-B14F-4D97-AF65-F5344CB8AC3E}">
        <p14:creationId xmlns:p14="http://schemas.microsoft.com/office/powerpoint/2010/main" val="1671639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analysis of the 2019 Trip data shows that Subscribers have an average ride length of 13.89 minutes while Customers average 61.93 minutes. The 2020 Trip data shows that Subscribers average 12.68 minutes while Customers average 95.79 minutes.</a:t>
            </a:r>
          </a:p>
          <a:p>
            <a:endParaRPr lang="en-US" dirty="0"/>
          </a:p>
        </p:txBody>
      </p:sp>
      <p:sp>
        <p:nvSpPr>
          <p:cNvPr id="4" name="Slide Number Placeholder 3"/>
          <p:cNvSpPr>
            <a:spLocks noGrp="1"/>
          </p:cNvSpPr>
          <p:nvPr>
            <p:ph type="sldNum" sz="quarter" idx="5"/>
          </p:nvPr>
        </p:nvSpPr>
        <p:spPr/>
        <p:txBody>
          <a:bodyPr/>
          <a:lstStyle/>
          <a:p>
            <a:fld id="{39BC37B4-3C80-4A9A-BE88-BA132B6FB665}" type="slidenum">
              <a:rPr lang="en-US" smtClean="0"/>
              <a:t>4</a:t>
            </a:fld>
            <a:endParaRPr lang="en-US"/>
          </a:p>
        </p:txBody>
      </p:sp>
    </p:spTree>
    <p:extLst>
      <p:ext uri="{BB962C8B-B14F-4D97-AF65-F5344CB8AC3E}">
        <p14:creationId xmlns:p14="http://schemas.microsoft.com/office/powerpoint/2010/main" val="4116743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079047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84509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51657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1EB5C9-1307-BA42-ABA2-0BC069CD8E7F}"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777144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1EB5C9-1307-BA42-ABA2-0BC069CD8E7F}"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01746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1EB5C9-1307-BA42-ABA2-0BC069CD8E7F}"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741167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77751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93885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3/7/2026</a:t>
            </a:fld>
            <a:endParaRPr lang="en-US"/>
          </a:p>
        </p:txBody>
      </p:sp>
    </p:spTree>
    <p:extLst>
      <p:ext uri="{BB962C8B-B14F-4D97-AF65-F5344CB8AC3E}">
        <p14:creationId xmlns:p14="http://schemas.microsoft.com/office/powerpoint/2010/main" val="886915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011450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11121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0745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855517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796248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735692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45409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241EB5C9-1307-BA42-ABA2-0BC069CD8E7F}" type="datetimeFigureOut">
              <a:rPr lang="en-US" smtClean="0"/>
              <a:t>3/7/2026</a:t>
            </a:fld>
            <a:endParaRPr lang="en-US"/>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1067375030"/>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4" r:id="rId13"/>
    <p:sldLayoutId id="2147483925" r:id="rId14"/>
    <p:sldLayoutId id="2147483926" r:id="rId15"/>
    <p:sldLayoutId id="2147483927"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marL="0" lvl="0" indent="0">
              <a:buNone/>
            </a:pPr>
            <a:r>
              <a:t>Navigating Chicago’s Cyclistic Bike-Share Company’s Success</a:t>
            </a:r>
          </a:p>
        </p:txBody>
      </p:sp>
      <p:sp>
        <p:nvSpPr>
          <p:cNvPr id="3" name="Subtitle 2"/>
          <p:cNvSpPr>
            <a:spLocks noGrp="1"/>
          </p:cNvSpPr>
          <p:nvPr>
            <p:ph type="subTitle" idx="1"/>
          </p:nvPr>
        </p:nvSpPr>
        <p:spPr/>
        <p:txBody>
          <a:bodyPr/>
          <a:lstStyle/>
          <a:p>
            <a:pPr marL="0" lvl="0" indent="0">
              <a:buNone/>
            </a:pPr>
            <a:br>
              <a:rPr dirty="0"/>
            </a:br>
            <a:br>
              <a:rPr dirty="0"/>
            </a:br>
            <a:r>
              <a:rPr b="1" dirty="0"/>
              <a:t>Patricia</a:t>
            </a:r>
          </a:p>
        </p:txBody>
      </p:sp>
      <p:sp>
        <p:nvSpPr>
          <p:cNvPr id="4" name="Date Placeholder 3"/>
          <p:cNvSpPr>
            <a:spLocks noGrp="1"/>
          </p:cNvSpPr>
          <p:nvPr>
            <p:ph type="dt" sz="half" idx="10"/>
          </p:nvPr>
        </p:nvSpPr>
        <p:spPr>
          <a:xfrm>
            <a:off x="4114800" y="4145797"/>
            <a:ext cx="798163" cy="895310"/>
          </a:xfrm>
        </p:spPr>
        <p:txBody>
          <a:bodyPr/>
          <a:lstStyle/>
          <a:p>
            <a:pPr marL="0" lvl="0" indent="0">
              <a:buNone/>
            </a:pPr>
            <a:r>
              <a:rPr b="1" dirty="0"/>
              <a:t>2025-12-29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F227-3A9C-B6FD-A1EE-2C751CCB47E2}"/>
              </a:ext>
            </a:extLst>
          </p:cNvPr>
          <p:cNvSpPr>
            <a:spLocks noGrp="1"/>
          </p:cNvSpPr>
          <p:nvPr>
            <p:ph type="title"/>
          </p:nvPr>
        </p:nvSpPr>
        <p:spPr/>
        <p:txBody>
          <a:bodyPr>
            <a:normAutofit/>
          </a:bodyPr>
          <a:lstStyle/>
          <a:p>
            <a:r>
              <a:rPr lang="en-US" dirty="0"/>
              <a:t>Ensuring Data Integrity: Sourcing and Transformation</a:t>
            </a:r>
          </a:p>
        </p:txBody>
      </p:sp>
      <p:sp>
        <p:nvSpPr>
          <p:cNvPr id="3" name="Content Placeholder 2">
            <a:extLst>
              <a:ext uri="{FF2B5EF4-FFF2-40B4-BE49-F238E27FC236}">
                <a16:creationId xmlns:a16="http://schemas.microsoft.com/office/drawing/2014/main" id="{081C5F2A-15EE-8648-56F4-38A6E147F0F1}"/>
              </a:ext>
            </a:extLst>
          </p:cNvPr>
          <p:cNvSpPr>
            <a:spLocks noGrp="1"/>
          </p:cNvSpPr>
          <p:nvPr>
            <p:ph idx="1"/>
          </p:nvPr>
        </p:nvSpPr>
        <p:spPr/>
        <p:txBody>
          <a:bodyPr>
            <a:normAutofit/>
          </a:bodyPr>
          <a:lstStyle/>
          <a:p>
            <a:pPr marL="0" indent="0">
              <a:buNone/>
            </a:pPr>
            <a:r>
              <a:rPr lang="en-US" dirty="0"/>
              <a:t>The data used for this analysis was provided by Motivate International Incorporation which was made public under a specific Data License Agreement. </a:t>
            </a:r>
          </a:p>
          <a:p>
            <a:pPr marL="0" indent="0">
              <a:buNone/>
            </a:pPr>
            <a:r>
              <a:rPr lang="en-US" dirty="0"/>
              <a:t>Two datasets were provided under the original names; Divvy Trips 2019 and Divvy Trips 2020.</a:t>
            </a:r>
          </a:p>
          <a:p>
            <a:pPr marL="0" indent="0">
              <a:buNone/>
            </a:pPr>
            <a:r>
              <a:rPr lang="en-US" dirty="0"/>
              <a:t>Both of the above datasets were </a:t>
            </a:r>
            <a:r>
              <a:rPr lang="en-US" dirty="0" err="1"/>
              <a:t>analysed</a:t>
            </a:r>
            <a:r>
              <a:rPr lang="en-US" dirty="0"/>
              <a:t> and there were no significant changes made to them during the course of the analysis.</a:t>
            </a:r>
          </a:p>
          <a:p>
            <a:pPr marL="0" indent="0">
              <a:buNone/>
            </a:pP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87490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dirty="0"/>
              <a:t>Converting Casual Users to</a:t>
            </a:r>
            <a:r>
              <a:rPr lang="en-US" dirty="0"/>
              <a:t> Subscribers</a:t>
            </a:r>
            <a:r>
              <a:rPr dirty="0"/>
              <a:t> for Speedy Success</a:t>
            </a:r>
          </a:p>
        </p:txBody>
      </p:sp>
      <p:sp>
        <p:nvSpPr>
          <p:cNvPr id="3" name="Content Placeholder 2">
            <a:extLst>
              <a:ext uri="{FF2B5EF4-FFF2-40B4-BE49-F238E27FC236}">
                <a16:creationId xmlns:a16="http://schemas.microsoft.com/office/drawing/2014/main" id="{4CAA316A-EDB4-F728-E79D-9FA094DF8124}"/>
              </a:ext>
            </a:extLst>
          </p:cNvPr>
          <p:cNvSpPr>
            <a:spLocks noGrp="1"/>
          </p:cNvSpPr>
          <p:nvPr>
            <p:ph idx="1"/>
          </p:nvPr>
        </p:nvSpPr>
        <p:spPr/>
        <p:txBody>
          <a:bodyPr/>
          <a:lstStyle/>
          <a:p>
            <a:pPr marL="0" indent="0">
              <a:buNone/>
            </a:pPr>
            <a:r>
              <a:rPr lang="en-US" dirty="0"/>
              <a:t>PLEASE NOTE: Throughout the course of this analysis, Casual users would be referred to as Customers while Annual Members would be referred to as Subscribers.</a:t>
            </a:r>
          </a:p>
          <a:p>
            <a:pPr marL="0" indent="0">
              <a:buNone/>
            </a:pPr>
            <a:r>
              <a:rPr lang="en-US" dirty="0"/>
              <a:t>The purpose of this analysis is to show how both of these user types differ and how the information can be used to formulate effective ways to turn most of them into Subscribers to guarantee the future success of the company.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6DB10E0-B6B5-46A9-EAA3-0EB4470B09EB}"/>
              </a:ext>
            </a:extLst>
          </p:cNvPr>
          <p:cNvGraphicFramePr/>
          <p:nvPr>
            <p:extLst>
              <p:ext uri="{D42A27DB-BD31-4B8C-83A1-F6EECF244321}">
                <p14:modId xmlns:p14="http://schemas.microsoft.com/office/powerpoint/2010/main" val="109008136"/>
              </p:ext>
            </p:extLst>
          </p:nvPr>
        </p:nvGraphicFramePr>
        <p:xfrm>
          <a:off x="1469756" y="640489"/>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2054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yclistic-Analysis_files/figure-pptx/setup2-1.png">
            <a:extLst>
              <a:ext uri="{FF2B5EF4-FFF2-40B4-BE49-F238E27FC236}">
                <a16:creationId xmlns:a16="http://schemas.microsoft.com/office/drawing/2014/main" id="{8FC4B27B-45E9-B75A-6B97-ADB8AA536BE6}"/>
              </a:ext>
            </a:extLst>
          </p:cNvPr>
          <p:cNvPicPr>
            <a:picLocks noGrp="1"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bwMode="auto">
          <a:xfrm>
            <a:off x="1069383" y="419100"/>
            <a:ext cx="7604717" cy="3784600"/>
          </a:xfrm>
          <a:prstGeom prst="rect">
            <a:avLst/>
          </a:prstGeom>
          <a:noFill/>
          <a:ln w="9525">
            <a:noFill/>
            <a:headEnd/>
            <a:tailEnd/>
          </a:ln>
        </p:spPr>
      </p:pic>
      <p:sp>
        <p:nvSpPr>
          <p:cNvPr id="5" name="TextBox 4">
            <a:extLst>
              <a:ext uri="{FF2B5EF4-FFF2-40B4-BE49-F238E27FC236}">
                <a16:creationId xmlns:a16="http://schemas.microsoft.com/office/drawing/2014/main" id="{939D74A8-7FBA-0D02-1CEA-4198B20EF3C1}"/>
              </a:ext>
            </a:extLst>
          </p:cNvPr>
          <p:cNvSpPr txBox="1"/>
          <p:nvPr/>
        </p:nvSpPr>
        <p:spPr>
          <a:xfrm>
            <a:off x="6902450" y="3124200"/>
            <a:ext cx="1771650" cy="738664"/>
          </a:xfrm>
          <a:prstGeom prst="rect">
            <a:avLst/>
          </a:prstGeom>
          <a:noFill/>
        </p:spPr>
        <p:txBody>
          <a:bodyPr wrap="square" rtlCol="0">
            <a:spAutoFit/>
          </a:bodyPr>
          <a:lstStyle/>
          <a:p>
            <a:r>
              <a:rPr lang="en-US" sz="1400" dirty="0" err="1"/>
              <a:t>Day_of_Week</a:t>
            </a:r>
            <a:endParaRPr lang="en-US" sz="1400" dirty="0"/>
          </a:p>
          <a:p>
            <a:r>
              <a:rPr lang="en-US" sz="1400" dirty="0"/>
              <a:t>Sunday=1</a:t>
            </a:r>
          </a:p>
          <a:p>
            <a:r>
              <a:rPr lang="en-US" sz="1400" dirty="0"/>
              <a:t>Saturday=7</a:t>
            </a:r>
          </a:p>
        </p:txBody>
      </p:sp>
    </p:spTree>
    <p:extLst>
      <p:ext uri="{BB962C8B-B14F-4D97-AF65-F5344CB8AC3E}">
        <p14:creationId xmlns:p14="http://schemas.microsoft.com/office/powerpoint/2010/main" val="1487653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yclistic-Analysis_files/figure-pptx/setup3-1.png">
            <a:extLst>
              <a:ext uri="{FF2B5EF4-FFF2-40B4-BE49-F238E27FC236}">
                <a16:creationId xmlns:a16="http://schemas.microsoft.com/office/drawing/2014/main" id="{F87B2E74-D9E5-79DA-DEA6-AD56FE199EC1}"/>
              </a:ext>
            </a:extLst>
          </p:cNvPr>
          <p:cNvPicPr>
            <a:picLocks noGrp="1"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bwMode="auto">
          <a:xfrm>
            <a:off x="999641" y="224725"/>
            <a:ext cx="7674459" cy="4220275"/>
          </a:xfrm>
          <a:prstGeom prst="rect">
            <a:avLst/>
          </a:prstGeom>
          <a:noFill/>
          <a:ln w="9525">
            <a:noFill/>
            <a:headEnd/>
            <a:tailEnd/>
          </a:ln>
        </p:spPr>
      </p:pic>
      <p:sp>
        <p:nvSpPr>
          <p:cNvPr id="3" name="TextBox 2">
            <a:extLst>
              <a:ext uri="{FF2B5EF4-FFF2-40B4-BE49-F238E27FC236}">
                <a16:creationId xmlns:a16="http://schemas.microsoft.com/office/drawing/2014/main" id="{FB13BF66-76F6-D3A4-E848-E3F9C627E468}"/>
              </a:ext>
            </a:extLst>
          </p:cNvPr>
          <p:cNvSpPr txBox="1"/>
          <p:nvPr/>
        </p:nvSpPr>
        <p:spPr>
          <a:xfrm>
            <a:off x="6902450" y="3124200"/>
            <a:ext cx="1771650" cy="738664"/>
          </a:xfrm>
          <a:prstGeom prst="rect">
            <a:avLst/>
          </a:prstGeom>
          <a:noFill/>
        </p:spPr>
        <p:txBody>
          <a:bodyPr wrap="square" rtlCol="0">
            <a:spAutoFit/>
          </a:bodyPr>
          <a:lstStyle/>
          <a:p>
            <a:r>
              <a:rPr lang="en-US" sz="1400" dirty="0" err="1"/>
              <a:t>Day_of_Week</a:t>
            </a:r>
            <a:endParaRPr lang="en-US" sz="1400" dirty="0"/>
          </a:p>
          <a:p>
            <a:r>
              <a:rPr lang="en-US" sz="1400" dirty="0"/>
              <a:t>Sunday=1</a:t>
            </a:r>
          </a:p>
          <a:p>
            <a:r>
              <a:rPr lang="en-US" sz="1400" dirty="0"/>
              <a:t>Saturday=7</a:t>
            </a:r>
          </a:p>
        </p:txBody>
      </p:sp>
    </p:spTree>
    <p:extLst>
      <p:ext uri="{BB962C8B-B14F-4D97-AF65-F5344CB8AC3E}">
        <p14:creationId xmlns:p14="http://schemas.microsoft.com/office/powerpoint/2010/main" val="3682355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yclistic-Analysis_files/figure-pptx/setup3-1.png">
            <a:extLst>
              <a:ext uri="{FF2B5EF4-FFF2-40B4-BE49-F238E27FC236}">
                <a16:creationId xmlns:a16="http://schemas.microsoft.com/office/drawing/2014/main" id="{8A72579C-ED86-B7F7-93E3-2F64108C15AE}"/>
              </a:ext>
            </a:extLst>
          </p:cNvPr>
          <p:cNvPicPr>
            <a:picLocks noGrp="1" noChangeAspect="1"/>
          </p:cNvPicPr>
          <p:nvPr/>
        </p:nvPicPr>
        <p:blipFill>
          <a:blip r:embed="rId2"/>
          <a:stretch>
            <a:fillRect/>
          </a:stretch>
        </p:blipFill>
        <p:spPr bwMode="auto">
          <a:xfrm>
            <a:off x="1239865" y="355600"/>
            <a:ext cx="7434236" cy="4089400"/>
          </a:xfrm>
          <a:prstGeom prst="rect">
            <a:avLst/>
          </a:prstGeom>
          <a:noFill/>
          <a:ln w="9525">
            <a:noFill/>
            <a:headEnd/>
            <a:tailEnd/>
          </a:ln>
        </p:spPr>
      </p:pic>
    </p:spTree>
    <p:extLst>
      <p:ext uri="{BB962C8B-B14F-4D97-AF65-F5344CB8AC3E}">
        <p14:creationId xmlns:p14="http://schemas.microsoft.com/office/powerpoint/2010/main" val="2499147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yclistic-Analysis_files/figure-pptx/setup5-1.png">
            <a:extLst>
              <a:ext uri="{FF2B5EF4-FFF2-40B4-BE49-F238E27FC236}">
                <a16:creationId xmlns:a16="http://schemas.microsoft.com/office/drawing/2014/main" id="{A2C5D8FC-BE35-CA7A-C04C-23C8B7B5AC01}"/>
              </a:ext>
            </a:extLst>
          </p:cNvPr>
          <p:cNvPicPr>
            <a:picLocks noGrp="1" noChangeAspect="1"/>
          </p:cNvPicPr>
          <p:nvPr/>
        </p:nvPicPr>
        <p:blipFill>
          <a:blip r:embed="rId2"/>
          <a:stretch>
            <a:fillRect/>
          </a:stretch>
        </p:blipFill>
        <p:spPr bwMode="auto">
          <a:xfrm>
            <a:off x="1394847" y="209227"/>
            <a:ext cx="7279253" cy="4235773"/>
          </a:xfrm>
          <a:prstGeom prst="rect">
            <a:avLst/>
          </a:prstGeom>
          <a:noFill/>
          <a:ln w="9525">
            <a:noFill/>
            <a:headEnd/>
            <a:tailEnd/>
          </a:ln>
        </p:spPr>
      </p:pic>
    </p:spTree>
    <p:extLst>
      <p:ext uri="{BB962C8B-B14F-4D97-AF65-F5344CB8AC3E}">
        <p14:creationId xmlns:p14="http://schemas.microsoft.com/office/powerpoint/2010/main" val="26823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Summary</a:t>
            </a:r>
          </a:p>
        </p:txBody>
      </p:sp>
      <p:sp>
        <p:nvSpPr>
          <p:cNvPr id="3" name="Content Placeholder 2"/>
          <p:cNvSpPr>
            <a:spLocks noGrp="1"/>
          </p:cNvSpPr>
          <p:nvPr>
            <p:ph idx="1"/>
          </p:nvPr>
        </p:nvSpPr>
        <p:spPr/>
        <p:txBody>
          <a:bodyPr/>
          <a:lstStyle/>
          <a:p>
            <a:r>
              <a:rPr lang="en-US" dirty="0"/>
              <a:t>The average ride length for customers (casual users) exceeds that of the Annual subscribers even though we have a significantly higher number of rides from these subscribers.</a:t>
            </a:r>
          </a:p>
          <a:p>
            <a:r>
              <a:rPr lang="en-US" dirty="0"/>
              <a:t>From the analysis, it is clear that unlike the subscribers, the casual users generally do not follow a traditional 9 to 5 worker profile for their bike usage. Rather, the way they use the bike share service reflects leisure and recreation rather than daily commuting.</a:t>
            </a:r>
          </a:p>
          <a:p>
            <a:endParaRPr lang="en-US" dirty="0"/>
          </a:p>
          <a:p>
            <a:endParaRPr lang="en-US" dirty="0"/>
          </a:p>
          <a:p>
            <a:endParaRPr dirty="0"/>
          </a:p>
          <a:p>
            <a:pPr marL="0" lv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pPr lvl="0"/>
            <a:r>
              <a:rPr lang="en-US" dirty="0"/>
              <a:t>Recommendations</a:t>
            </a:r>
          </a:p>
        </p:txBody>
      </p:sp>
      <p:sp>
        <p:nvSpPr>
          <p:cNvPr id="4" name="Content Placeholder 3">
            <a:extLst>
              <a:ext uri="{FF2B5EF4-FFF2-40B4-BE49-F238E27FC236}">
                <a16:creationId xmlns:a16="http://schemas.microsoft.com/office/drawing/2014/main" id="{38BF063D-693D-B6F5-7C9C-381ACD15F31E}"/>
              </a:ext>
            </a:extLst>
          </p:cNvPr>
          <p:cNvSpPr>
            <a:spLocks noGrp="1"/>
          </p:cNvSpPr>
          <p:nvPr>
            <p:ph idx="1"/>
          </p:nvPr>
        </p:nvSpPr>
        <p:spPr/>
        <p:txBody>
          <a:bodyPr/>
          <a:lstStyle/>
          <a:p>
            <a:r>
              <a:rPr lang="en-US" dirty="0"/>
              <a:t>Since most of the casual riders would naturally avoid annual subscriptions because they do not commute daily, less-expensive and flexible membership tiers like Weekend-Only Memberships (which would include unlimited rides) and Monthly Subscription Options should be provided.</a:t>
            </a:r>
          </a:p>
          <a:p>
            <a:r>
              <a:rPr lang="en-US" dirty="0"/>
              <a:t>Some sort of reward system should also be implemented, for example, casual riders can earn points as they use the serviced towards a discounted annual membership. Also, the existing annual members can also earn points by referring frequent casual users.</a:t>
            </a:r>
          </a:p>
          <a:p>
            <a:r>
              <a:rPr lang="en-US" dirty="0"/>
              <a:t>Digital marketing campaigns during peak summer months should be launched when casual rider activity is highest.</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B1D799-F788-E1E6-AFF7-176E257818BC}"/>
              </a:ext>
            </a:extLst>
          </p:cNvPr>
          <p:cNvSpPr txBox="1"/>
          <p:nvPr/>
        </p:nvSpPr>
        <p:spPr>
          <a:xfrm>
            <a:off x="1270861" y="1867546"/>
            <a:ext cx="6842502" cy="369332"/>
          </a:xfrm>
          <a:prstGeom prst="rect">
            <a:avLst/>
          </a:prstGeom>
          <a:noFill/>
        </p:spPr>
        <p:txBody>
          <a:bodyPr wrap="square" rtlCol="0">
            <a:spAutoFit/>
          </a:bodyPr>
          <a:lstStyle/>
          <a:p>
            <a:r>
              <a:rPr lang="en-US" dirty="0"/>
              <a:t>THANK    YOU</a:t>
            </a:r>
          </a:p>
        </p:txBody>
      </p:sp>
    </p:spTree>
    <p:extLst>
      <p:ext uri="{BB962C8B-B14F-4D97-AF65-F5344CB8AC3E}">
        <p14:creationId xmlns:p14="http://schemas.microsoft.com/office/powerpoint/2010/main" val="2702993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188</TotalTime>
  <Words>423</Words>
  <Application>Microsoft Office PowerPoint</Application>
  <PresentationFormat>On-screen Show (16:9)</PresentationFormat>
  <Paragraphs>31</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 3</vt:lpstr>
      <vt:lpstr>Facet</vt:lpstr>
      <vt:lpstr>Navigating Chicago’s Cyclistic Bike-Share Company’s Success</vt:lpstr>
      <vt:lpstr>Ensuring Data Integrity: Sourcing and Transformation</vt:lpstr>
      <vt:lpstr>Converting Casual Users to Subscribers for Speedy Success</vt:lpstr>
      <vt:lpstr>PowerPoint Presentation</vt:lpstr>
      <vt:lpstr>PowerPoint Presentation</vt:lpstr>
      <vt:lpstr>PowerPoint Presentation</vt:lpstr>
      <vt:lpstr>PowerPoint Presentation</vt:lpstr>
      <vt:lpstr>PowerPoint Presentation</vt:lpstr>
      <vt:lpstr>Summary</vt:lpstr>
      <vt:lpstr>Recommendations</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Navigating Chicago’s Cyclistic Bike-Share Company’s Success</dc:title>
  <dc:creator>Patricia</dc:creator>
  <cp:keywords/>
  <cp:lastModifiedBy>Tinuolaji Idowu</cp:lastModifiedBy>
  <cp:revision>7</cp:revision>
  <dcterms:created xsi:type="dcterms:W3CDTF">2025-12-30T12:01:06Z</dcterms:created>
  <dcterms:modified xsi:type="dcterms:W3CDTF">2026-03-08T07:12:47Z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2025-12-29</vt:lpwstr>
  </property>
  <property fmtid="{D5CDD505-2E9C-101B-9397-08002B2CF9AE}" pid="3" name="output">
    <vt:lpwstr>powerpoint_presentation</vt:lpwstr>
  </property>
</Properties>
</file>